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Churn rate by contract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F4A6D"/>
              </a:solidFill>
            </c:spPr>
          </c:dPt>
          <c:dPt>
            <c:idx val="1"/>
            <c:spPr>
              <a:solidFill>
                <a:srgbClr val="B8C0C8"/>
              </a:solidFill>
            </c:spPr>
          </c:dPt>
          <c:cat>
            <c:strRef>
              <c:f>Sheet1!$A$2:$A$3</c:f>
              <c:strCache>
                <c:ptCount val="2"/>
                <c:pt idx="0">
                  <c:v>Monthly</c:v>
                </c:pt>
                <c:pt idx="1">
                  <c:v>Annual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55.56</c:v>
                </c:pt>
                <c:pt idx="1">
                  <c:v>8.33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Churn rate by plan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F4A6D"/>
              </a:solidFill>
            </c:spPr>
          </c:dPt>
          <c:dPt>
            <c:idx val="1"/>
            <c:spPr>
              <a:solidFill>
                <a:srgbClr val="7D8B99"/>
              </a:solidFill>
            </c:spPr>
          </c:dPt>
          <c:dPt>
            <c:idx val="2"/>
            <c:spPr>
              <a:solidFill>
                <a:srgbClr val="B8C0C8"/>
              </a:solidFill>
            </c:spPr>
          </c:dPt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Standard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60.0</c:v>
                </c:pt>
                <c:pt idx="1">
                  <c:v>22.22</c:v>
                </c:pt>
                <c:pt idx="2">
                  <c:v>14.29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Churn rate by support escalation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F4A6D"/>
              </a:solidFill>
            </c:spPr>
          </c:dPt>
          <c:dPt>
            <c:idx val="1"/>
            <c:spPr>
              <a:solidFill>
                <a:srgbClr val="B8C0C8"/>
              </a:solidFill>
            </c:spPr>
          </c:dPt>
          <c:cat>
            <c:strRef>
              <c:f>Sheet1!$A$2:$A$3</c:f>
              <c:strCache>
                <c:ptCount val="2"/>
                <c:pt idx="0">
                  <c:v>Escalated</c:v>
                </c:pt>
                <c:pt idx="1">
                  <c:v>Not escalated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6.25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Churn rate by acquisition channel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F4A6D"/>
              </a:solidFill>
            </c:spPr>
          </c:dPt>
          <c:dPt>
            <c:idx val="1"/>
            <c:spPr>
              <a:solidFill>
                <a:srgbClr val="7D8B99"/>
              </a:solidFill>
            </c:spPr>
          </c:dPt>
          <c:dPt>
            <c:idx val="2"/>
            <c:spPr>
              <a:solidFill>
                <a:srgbClr val="B8C0C8"/>
              </a:solidFill>
            </c:spPr>
          </c:dPt>
          <c:cat>
            <c:strRef>
              <c:f>Sheet1!$A$2:$A$4</c:f>
              <c:strCache>
                <c:ptCount val="3"/>
                <c:pt idx="0">
                  <c:v>Referral</c:v>
                </c:pt>
                <c:pt idx="1">
                  <c:v>Paid</c:v>
                </c:pt>
                <c:pt idx="2">
                  <c:v>Organic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83.33</c:v>
                </c:pt>
                <c:pt idx="1">
                  <c:v>16.67</c:v>
                </c:pt>
                <c:pt idx="2">
                  <c:v>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</a:rPr>
              <a:t>Cancellations per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Cancellations</c:v>
                </c:pt>
              </c:strCache>
            </c:strRef>
          </c:tx>
          <c:spPr>
            <a:ln w="38100">
              <a:solidFill>
                <a:srgbClr val="2F4A6D"/>
              </a:solidFill>
            </a:ln>
          </c:spPr>
          <c:marker>
            <c:size val="11"/>
            <c:spPr>
              <a:solidFill>
                <a:srgbClr val="2F4A6D"/>
              </a:solidFill>
              <a:ln>
                <a:solidFill>
                  <a:srgbClr val="2F4A6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Feb-24</c:v>
                </c:pt>
                <c:pt idx="1">
                  <c:v>May-24</c:v>
                </c:pt>
                <c:pt idx="2">
                  <c:v>Sep-24</c:v>
                </c:pt>
                <c:pt idx="3">
                  <c:v>Oct-24</c:v>
                </c:pt>
                <c:pt idx="4">
                  <c:v>Nov-24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.0"/>
          <c:min val="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Churn rate, top states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666666"/>
              </a:solidFill>
            </c:spPr>
          </c:dPt>
          <c:dPt>
            <c:idx val="1"/>
            <c:spPr>
              <a:solidFill>
                <a:srgbClr val="2F4A6D"/>
              </a:solidFill>
            </c:spPr>
          </c:dPt>
          <c:dPt>
            <c:idx val="2"/>
            <c:spPr>
              <a:solidFill>
                <a:srgbClr val="2F4A6D"/>
              </a:solidFill>
            </c:spPr>
          </c:dPt>
          <c:dPt>
            <c:idx val="3"/>
            <c:spPr>
              <a:solidFill>
                <a:srgbClr val="2F4A6D"/>
              </a:solidFill>
            </c:spPr>
          </c:dPt>
          <c:dPt>
            <c:idx val="4"/>
            <c:spPr>
              <a:solidFill>
                <a:srgbClr val="2F4A6D"/>
              </a:solidFill>
            </c:spPr>
          </c:dPt>
          <c:cat>
            <c:strRef>
              <c:f>Sheet1!$A$2:$A$6</c:f>
              <c:strCache>
                <c:ptCount val="5"/>
                <c:pt idx="0">
                  <c:v>Kathmandu</c:v>
                </c:pt>
                <c:pt idx="1">
                  <c:v>Delhi</c:v>
                </c:pt>
                <c:pt idx="2">
                  <c:v>Telangana</c:v>
                </c:pt>
                <c:pt idx="3">
                  <c:v>Meghalaya</c:v>
                </c:pt>
                <c:pt idx="4">
                  <c:v>Karnataka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25.0</c:v>
                </c:pt>
                <c:pt idx="2">
                  <c:v>50.0</c:v>
                </c:pt>
                <c:pt idx="3">
                  <c:v>66.67</c:v>
                </c:pt>
                <c:pt idx="4">
                  <c:v>100.0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Cancellation reasons (customers)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F4A6D"/>
              </a:solidFill>
            </c:spPr>
          </c:dPt>
          <c:dPt>
            <c:idx val="1"/>
            <c:spPr>
              <a:solidFill>
                <a:srgbClr val="2F4A6D"/>
              </a:solidFill>
            </c:spPr>
          </c:dPt>
          <c:dPt>
            <c:idx val="2"/>
            <c:spPr>
              <a:solidFill>
                <a:srgbClr val="2F4A6D"/>
              </a:solidFill>
            </c:spPr>
          </c:dPt>
          <c:dPt>
            <c:idx val="3"/>
            <c:spPr>
              <a:solidFill>
                <a:srgbClr val="2F4A6D"/>
              </a:solidFill>
            </c:spPr>
          </c:dPt>
          <c:dPt>
            <c:idx val="4"/>
            <c:spPr>
              <a:solidFill>
                <a:srgbClr val="2F4A6D"/>
              </a:solidFill>
            </c:spPr>
          </c:dPt>
          <c:cat>
            <c:strRef>
              <c:f>Sheet1!$A$2:$A$6</c:f>
              <c:strCache>
                <c:ptCount val="5"/>
                <c:pt idx="0">
                  <c:v>Too expensive</c:v>
                </c:pt>
                <c:pt idx="1">
                  <c:v>Not enough content</c:v>
                </c:pt>
                <c:pt idx="2">
                  <c:v>Poor streaming quality</c:v>
                </c:pt>
                <c:pt idx="3">
                  <c:v>Forgot to cancel trial</c:v>
                </c:pt>
                <c:pt idx="4">
                  <c:v>Switched to competitor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Avg CLTV (Rs)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B8C0C8"/>
              </a:solidFill>
            </c:spPr>
          </c:dPt>
          <c:dPt>
            <c:idx val="1"/>
            <c:spPr>
              <a:solidFill>
                <a:srgbClr val="2F4A6D"/>
              </a:solidFill>
            </c:spPr>
          </c:dPt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1016.47</c:v>
                </c:pt>
                <c:pt idx="1">
                  <c:v>341.17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Customers by risk tier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B8C0C8"/>
              </a:solidFill>
            </c:spPr>
          </c:dPt>
          <c:dPt>
            <c:idx val="1"/>
            <c:spPr>
              <a:solidFill>
                <a:srgbClr val="7D8B99"/>
              </a:solidFill>
            </c:spPr>
          </c:dPt>
          <c:dPt>
            <c:idx val="2"/>
            <c:spPr>
              <a:solidFill>
                <a:srgbClr val="2F4A6D"/>
              </a:solidFill>
            </c:spPr>
          </c:dPt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2</c:v>
                </c:pt>
                <c:pt idx="2">
                  <c:v>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22222"/>
                </a:solidFill>
                <a:latin typeface="Calibri"/>
              </a:rPr>
              <a:t>Monthly revenue by tier (Rs)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B8C0C8"/>
              </a:solidFill>
            </c:spPr>
          </c:dPt>
          <c:dPt>
            <c:idx val="1"/>
            <c:spPr>
              <a:solidFill>
                <a:srgbClr val="7D8B99"/>
              </a:solidFill>
            </c:spPr>
          </c:dPt>
          <c:dPt>
            <c:idx val="2"/>
            <c:spPr>
              <a:solidFill>
                <a:srgbClr val="2F4A6D"/>
              </a:solidFill>
            </c:spPr>
          </c:dPt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286.87</c:v>
                </c:pt>
                <c:pt idx="1">
                  <c:v>34.98</c:v>
                </c:pt>
                <c:pt idx="2">
                  <c:v>73.94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666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is an end-to-end churn analysis for an OTT subscription business. I took raw multi-table data, built a SQL database, cleaned and joined it in Python, calculated 20+ KPIs and turned them into retention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message first: churn is concentrated in monthly contracts, escalated customers and referral sign-ups.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Churn analysis answers three questions: who, why and when. Each one maps to a set of analyses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relational tables from one Excel export: customer, subscription and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pipeline is in the notebook (step by step) and in src/churn_pipeline.py (one command).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subscription sheet on top; below, the notebook code that builds the database and lists the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fix: duplicate support tickets. Joining them as-is would turn 21 subscribers into 23 rows and inflate every KPI, so I aggregated them to one row per customer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join uses subscription as the base table and asserts the row count stays at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KPIs. ARPU is the average monthly charge across all customers; tenure is measured to 31-Dec-2025.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Contract length matters more than plan tier. Basic + Monthly is the worst cell at 75%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experience and acquisition channel are both strong churn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cancellations between Feb and Nov 2024, two of them in September.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Churned customers average Rs 341 CLTV against Rs 1,016 for retained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tiers come from churn_score: Low below 50, Medium 50 to 69, High 70 and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with CASE WHEN, JOIN, GROUP BY and HAVING gives the same numbers as pandas. The pipeline script reproduces everything in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1 and 2 have the highest impact. Track success with monthly churn rate, monthly-to-annual conversion and churn among escalated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correlation matrix (ordinal-encoded) already shows strong signals for a predictive model: escalations, complaints and contract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66666"/>
                </a:solidFill>
                <a:latin typeface="Calibri"/>
              </a:rPr>
              <a:t>Data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222222"/>
                </a:solidFill>
                <a:latin typeface="Calibri"/>
              </a:rPr>
              <a:t>Customer Churn Analysis
&amp; Customer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Calibri"/>
              </a:rPr>
              <a:t>Who leaves an OTT subscription service, why they leave, and what it costs, built end-to-end with SQL and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817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28.6%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30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churn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6817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Rs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230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monthly revenue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6817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6.7×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230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monthly vs annual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468172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5230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KPIs calculated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Gaurav Kalamkhede   ·   SQL (SQLite) · Python · pandas · NumPy · Matplotlib ·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222222"/>
                </a:solidFill>
                <a:latin typeface="Calibri"/>
              </a:rPr>
              <a:t>Churn is driven by contract type, support escalations and low-intent referral sign-ups.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Monthly subscribers churn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6.7× more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than annual subscribers (55.6% vs 8.3%).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Every customer with an escalated complaint churned: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100% vs 6.3%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for everyone else.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Referral sign-ups churn at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83%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; organic users at 0%.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Churn cost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Rs 73.94 MRR (18.7%)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and Rs 2,047 lifetime value.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Two levers: 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move monthly users to annual plans, and treat every escalation as a churn alert.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5087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28.6%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1945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Churn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5146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6 of 21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5087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71.4%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1945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5146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still subscribed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54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8404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MRR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60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18.7% of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154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2,047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8404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CLTV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1605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lifetime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8006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18.85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486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ARPU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806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avg monthly charge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48006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0.88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4864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Escalation corr.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5806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with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The business problem: who, why and when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66666"/>
                </a:solidFill>
                <a:latin typeface="Calibri"/>
              </a:rPr>
              <a:t>Acquiring a subscriber costs several times more than keeping one. Leadership needs to know where retention budget protects the most revenue.</a:t>
            </a:r>
          </a:p>
        </p:txBody>
      </p:sp>
      <p:sp>
        <p:nvSpPr>
          <p:cNvPr id="6" name="Question WHO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666666"/>
                </a:solidFill>
                <a:latin typeface="Calibri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Which customers left, and who is likely to leave next?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Churn by plan, contract, channel, state, age, gender; churn-risk tiers</a:t>
            </a:r>
          </a:p>
        </p:txBody>
      </p:sp>
      <p:sp>
        <p:nvSpPr>
          <p:cNvPr id="10" name="Question WHY"/>
          <p:cNvSpPr/>
          <p:nvPr/>
        </p:nvSpPr>
        <p:spPr>
          <a:xfrm>
            <a:off x="4297679" y="23774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2697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666666"/>
                </a:solidFill>
                <a:latin typeface="Calibri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749039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What drives them to cancel?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480060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Cancellation reasons, complaints, escalations, CSAT, pricing</a:t>
            </a:r>
          </a:p>
        </p:txBody>
      </p:sp>
      <p:sp>
        <p:nvSpPr>
          <p:cNvPr id="14" name="Question WHEN"/>
          <p:cNvSpPr/>
          <p:nvPr/>
        </p:nvSpPr>
        <p:spPr>
          <a:xfrm>
            <a:off x="8046719" y="23774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697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666666"/>
                </a:solidFill>
                <a:latin typeface="Calibri"/>
              </a:rPr>
              <a:t>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749039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When does churn happen?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480060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Monthly churn trend and tenure at cancellation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Data and tools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5" name="Table db_customer"/>
          <p:cNvSpPr/>
          <p:nvPr/>
        </p:nvSpPr>
        <p:spPr>
          <a:xfrm>
            <a:off x="548640" y="1463040"/>
            <a:ext cx="6583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db_customer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6642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F4A6D"/>
                </a:solidFill>
                <a:latin typeface="Calibri"/>
              </a:rPr>
              <a:t>21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customerid, name, country, state, gender, dob, interests, pincode</a:t>
            </a:r>
          </a:p>
        </p:txBody>
      </p:sp>
      <p:sp>
        <p:nvSpPr>
          <p:cNvPr id="9" name="Table db_subscription"/>
          <p:cNvSpPr/>
          <p:nvPr/>
        </p:nvSpPr>
        <p:spPr>
          <a:xfrm>
            <a:off x="548640" y="2926080"/>
            <a:ext cx="6583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db_subscription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12724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F4A6D"/>
                </a:solidFill>
                <a:latin typeface="Calibri"/>
              </a:rPr>
              <a:t>21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start / renewal / cancellation dates, plan, contract, channel, monthly charges, CLTV, churn score, cancellation reason</a:t>
            </a:r>
          </a:p>
        </p:txBody>
      </p:sp>
      <p:sp>
        <p:nvSpPr>
          <p:cNvPr id="13" name="Table db_support"/>
          <p:cNvSpPr/>
          <p:nvPr/>
        </p:nvSpPr>
        <p:spPr>
          <a:xfrm>
            <a:off x="548640" y="4389120"/>
            <a:ext cx="6583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db_support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5902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2F4A6D"/>
                </a:solidFill>
                <a:latin typeface="Calibri"/>
              </a:rPr>
              <a:t>9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complaint date, escalation (Y/N), CSAT score, comment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463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920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9019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SQL / 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494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database, joins, CASE WHEN, GROUP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077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895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pandas &amp; 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23697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cleaning, features, 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89534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87705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Matplotlib &amp; Seaborn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224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10 charts and heatmap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8289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666666"/>
                </a:solidFill>
                <a:latin typeface="Calibri"/>
              </a:rPr>
              <a:t>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8646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Jupyter &amp;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reproducible notebook and repo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Churned = the subscription has a cancellation_date. Snapshot date for tenure and age: 31-Dec-2025.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How I built it: an 8-step pipeline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5" name="Step 1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877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Excel → SQLite → pandas via SQL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82112" y="2423160"/>
            <a:ext cx="182880" cy="27432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2"/>
          <p:cNvSpPr/>
          <p:nvPr/>
        </p:nvSpPr>
        <p:spPr>
          <a:xfrm>
            <a:off x="3383280" y="1600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877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718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nulls, duplicates, labels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16752" y="2423160"/>
            <a:ext cx="182880" cy="27432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3"/>
          <p:cNvSpPr/>
          <p:nvPr/>
        </p:nvSpPr>
        <p:spPr>
          <a:xfrm>
            <a:off x="6217920" y="1600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types, renames, standardise, impute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51392" y="2423160"/>
            <a:ext cx="182880" cy="27432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 4"/>
          <p:cNvSpPr/>
          <p:nvPr/>
        </p:nvSpPr>
        <p:spPr>
          <a:xfrm>
            <a:off x="9052560" y="1600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87451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877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9718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churn flag, tenure, age, risk tier</a:t>
            </a:r>
          </a:p>
        </p:txBody>
      </p:sp>
      <p:sp>
        <p:nvSpPr>
          <p:cNvPr id="24" name="Step 5"/>
          <p:cNvSpPr/>
          <p:nvPr/>
        </p:nvSpPr>
        <p:spPr>
          <a:xfrm>
            <a:off x="548640" y="38404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114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828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Join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212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3 tables, row-count assertion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182112" y="4663440"/>
            <a:ext cx="182880" cy="27432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 6"/>
          <p:cNvSpPr/>
          <p:nvPr/>
        </p:nvSpPr>
        <p:spPr>
          <a:xfrm>
            <a:off x="3383280" y="38404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114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28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Analyse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212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20+ KPIs, segments, pivots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016752" y="4663440"/>
            <a:ext cx="182880" cy="27432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ep 7"/>
          <p:cNvSpPr/>
          <p:nvPr/>
        </p:nvSpPr>
        <p:spPr>
          <a:xfrm>
            <a:off x="6217920" y="38404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114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828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12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KPIs recomputed in SQL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851392" y="4663440"/>
            <a:ext cx="182880" cy="27432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ep 8"/>
          <p:cNvSpPr/>
          <p:nvPr/>
        </p:nvSpPr>
        <p:spPr>
          <a:xfrm>
            <a:off x="9052560" y="38404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4114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8.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828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Visualise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212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charts → insights →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Step 1: Excel → SQLite → pandas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raw_excel_db_sub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233" y="1417320"/>
            <a:ext cx="6283053" cy="21488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6" name="Picture 5" descr="nb_02_excel_to_sq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0518"/>
            <a:ext cx="5394960" cy="92576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7" name="Picture 6" descr="nb_03_sql_table_meta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339702"/>
            <a:ext cx="5394960" cy="128755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206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Each Excel sheet becomes a SQLite table. 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I read the schema with sqlite_master and PRAGMA table_info, then load each table into pandas with SQL, the same way I would pull from a production warehouse.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Step 2–3: Data quality checks and cleaning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Issue found → fix</a:t>
            </a:r>
          </a:p>
        </p:txBody>
      </p:sp>
      <p:sp>
        <p:nvSpPr>
          <p:cNvPr id="6" name="Issue row"/>
          <p:cNvSpPr/>
          <p:nvPr/>
        </p:nvSpPr>
        <p:spPr>
          <a:xfrm>
            <a:off x="548640" y="1828800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Gender: Male / Female / Men / Women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8424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22222"/>
                </a:solidFill>
                <a:latin typeface="Calibri"/>
              </a:rPr>
              <a:t>Standardised</a:t>
            </a:r>
          </a:p>
        </p:txBody>
      </p:sp>
      <p:sp>
        <p:nvSpPr>
          <p:cNvPr id="9" name="Issue row"/>
          <p:cNvSpPr/>
          <p:nvPr/>
        </p:nvSpPr>
        <p:spPr>
          <a:xfrm>
            <a:off x="548640" y="2542032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3 missing countries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9748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22222"/>
                </a:solidFill>
                <a:latin typeface="Calibri"/>
              </a:rPr>
              <a:t>Filled from state map</a:t>
            </a:r>
          </a:p>
        </p:txBody>
      </p:sp>
      <p:sp>
        <p:nvSpPr>
          <p:cNvPr id="12" name="Issue row"/>
          <p:cNvSpPr/>
          <p:nvPr/>
        </p:nvSpPr>
        <p:spPr>
          <a:xfrm>
            <a:off x="548640" y="3255264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interests 81% null, pincode 100% null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41071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22222"/>
                </a:solidFill>
                <a:latin typeface="Calibri"/>
              </a:rPr>
              <a:t>Dropped</a:t>
            </a:r>
          </a:p>
        </p:txBody>
      </p:sp>
      <p:sp>
        <p:nvSpPr>
          <p:cNvPr id="15" name="Issue row"/>
          <p:cNvSpPr/>
          <p:nvPr/>
        </p:nvSpPr>
        <p:spPr>
          <a:xfrm>
            <a:off x="548640" y="3968496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239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Dates stored as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2394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22222"/>
                </a:solidFill>
                <a:latin typeface="Calibri"/>
              </a:rPr>
              <a:t>Converted to datetime</a:t>
            </a:r>
          </a:p>
        </p:txBody>
      </p:sp>
      <p:sp>
        <p:nvSpPr>
          <p:cNvPr id="18" name="Issue row"/>
          <p:cNvSpPr/>
          <p:nvPr/>
        </p:nvSpPr>
        <p:spPr>
          <a:xfrm>
            <a:off x="548640" y="4681728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371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Typo 'Refferal'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37176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22222"/>
                </a:solidFill>
                <a:latin typeface="Calibri"/>
              </a:rPr>
              <a:t>Corrected</a:t>
            </a:r>
          </a:p>
        </p:txBody>
      </p:sp>
      <p:sp>
        <p:nvSpPr>
          <p:cNvPr id="21" name="Issue row"/>
          <p:cNvSpPr/>
          <p:nvPr/>
        </p:nvSpPr>
        <p:spPr>
          <a:xfrm>
            <a:off x="548640" y="5394960"/>
            <a:ext cx="51206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504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9 tickets for 7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5504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222222"/>
                </a:solidFill>
                <a:latin typeface="Calibri"/>
              </a:rPr>
              <a:t>One row per customer</a:t>
            </a:r>
          </a:p>
        </p:txBody>
      </p:sp>
      <p:pic>
        <p:nvPicPr>
          <p:cNvPr id="24" name="Picture 23" descr="nb_04_data_quality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397" y="1417320"/>
            <a:ext cx="4583125" cy="23774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25" name="Picture 24" descr="nb_07_support_d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297" y="3931920"/>
            <a:ext cx="5017324" cy="2286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Step 4–5: Feature engineering and safe joins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churn_flag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9222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1 if cancellation_date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tenure_days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946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start → cancel / snapshot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  <a:latin typeface="Calibri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age, age_group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46703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age bands &lt;25 … 45+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  <a:latin typeface="Calibri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complaint_count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2394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tickets per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  <a:latin typeface="Calibri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escalation_flag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0118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ever escalated (Y)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5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  <a:latin typeface="Calibri"/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492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churn_risk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67842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Low &lt;50 · Medium 50–69 · High ≥70</a:t>
            </a:r>
          </a:p>
        </p:txBody>
      </p:sp>
      <p:pic>
        <p:nvPicPr>
          <p:cNvPr id="23" name="Picture 22" descr="nb_09_feature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44" y="1417319"/>
            <a:ext cx="4034750" cy="31089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24" name="Picture 23" descr="nb_08_join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667002"/>
            <a:ext cx="6675120" cy="159307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KPI scorecard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28.6%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Churn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6 of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15544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71.4%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2402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Retention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active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5" y="15544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18.85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5" y="22402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ARPU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5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Rs 21.46 for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3" y="15544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1,355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3" y="22402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Avg tenure (days)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3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≈ 3.7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396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Monthly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total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4290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41148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MRR 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44348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18.7% of MRR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5" y="34290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2,047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5" y="41148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CLTV lost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5" y="44348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lifetime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0263" y="342900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23.8%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3" y="41148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Escalation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3" y="44348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0.43 complaints / user</a:t>
            </a:r>
          </a:p>
        </p:txBody>
      </p:sp>
      <p:sp>
        <p:nvSpPr>
          <p:cNvPr id="29" name="Validation note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55040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Calibri"/>
              </a:rPr>
              <a:t>Validated in SQL: </a:t>
            </a:r>
            <a:r>
              <a:rPr sz="1500" b="0" i="0">
                <a:solidFill>
                  <a:srgbClr val="222222"/>
                </a:solidFill>
                <a:latin typeface="Calibri"/>
              </a:rPr>
              <a:t>churn rate, ARPU, MRR lost and CLTV lost recomputed directly in SQLite match the pandas results exactly.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Monthly contracts churn 6.7× more than annual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374903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434840" y="1417320"/>
          <a:ext cx="39319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16916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03120"/>
            <a:ext cx="3017520" cy="397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5 of the 6 churned customers were on monthly contracts.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Basic churns most (60%), but Premium earns 55% of revenue at only 14% churn.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Converting monthly users to annual plans is the biggest lever.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Escalations and referral sign-ups predict churn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374903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434840" y="1417320"/>
          <a:ext cx="39319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16916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03120"/>
            <a:ext cx="3017520" cy="397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All 5 escalated customers churned. Correlation with churn: 0.88.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An escalation is the clearest early-warning signal in the data.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Referral users churn at 83%; the referral funnel brings in low-intent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Churn peaked in Sep-2024 and in two states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417320"/>
          <a:ext cx="53492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When-where takeaway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Karnataka lost 2 of 2 customers and Meghalaya 2 of 3; five states had zero churn. Check pricing changes, outages and competitor launches around Sep-2024.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We lose low-value customers, mostly to competitors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56692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92240" y="1417320"/>
          <a:ext cx="2743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464040" y="1691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103120"/>
            <a:ext cx="21945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Churned CLTV is 3× lower.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Competitors and price drive half of the exits.</a:t>
            </a:r>
          </a:p>
        </p:txBody>
      </p:sp>
      <p:sp>
        <p:nvSpPr>
          <p:cNvPr id="9" name="Reason note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0527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Price, content and streaming-quality complaints each map to a product action: pricing tiers, content bundles and QoS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Revenue at risk: who to call this month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3657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43400" y="1417320"/>
          <a:ext cx="365760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15544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402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Active customers at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5603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Medium tier, still subscribed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3375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2222"/>
                </a:solidFill>
                <a:latin typeface="Calibri"/>
              </a:rPr>
              <a:t>Rs 34.98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02335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MRR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3434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Rs 1,190 CLTV at risk</a:t>
            </a:r>
          </a:p>
        </p:txBody>
      </p:sp>
      <p:sp>
        <p:nvSpPr>
          <p:cNvPr id="13" name="Risk note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418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All 6 High-risk customers have already churned, so the churn score works. The 2 Medium-risk active customers are the outreach list.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Every KPI cross-checked in SQL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pic>
        <p:nvPicPr>
          <p:cNvPr id="5" name="Picture 4" descr="nb_13_sql_kpi_cross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0244"/>
            <a:ext cx="6766560" cy="210871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6" name="Picture 5" descr="nb_14_sql_plan_con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12" y="3749039"/>
            <a:ext cx="6080614" cy="25146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7" name="Picture 6" descr="18_pipeline_run_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467165"/>
            <a:ext cx="4069080" cy="2746629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Recommendations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5" name="Recommendation 1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666666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105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Monthly → annual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Offer 2 months free to switch to an annual plan at renewal.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4A6D"/>
                </a:solidFill>
                <a:latin typeface="Calibri"/>
              </a:rPr>
              <a:t>Annual churn is 6.7× lower</a:t>
            </a:r>
          </a:p>
        </p:txBody>
      </p:sp>
      <p:sp>
        <p:nvSpPr>
          <p:cNvPr id="10" name="Recommendation 2"/>
          <p:cNvSpPr/>
          <p:nvPr/>
        </p:nvSpPr>
        <p:spPr>
          <a:xfrm>
            <a:off x="4297679" y="14630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737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666666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18105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Escalation 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4231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Senior agent, 48-hour fix, goodwill credit for every escalation.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200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4A6D"/>
                </a:solidFill>
                <a:latin typeface="Calibri"/>
              </a:rPr>
              <a:t>Targets a 100%-churn group</a:t>
            </a:r>
          </a:p>
        </p:txBody>
      </p:sp>
      <p:sp>
        <p:nvSpPr>
          <p:cNvPr id="15" name="Recommendation 3"/>
          <p:cNvSpPr/>
          <p:nvPr/>
        </p:nvSpPr>
        <p:spPr>
          <a:xfrm>
            <a:off x="8046719" y="14630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666666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8105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Fix referral funnel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Tighter eligibility, longer onboarding, annual nudge.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4A6D"/>
                </a:solidFill>
                <a:latin typeface="Calibri"/>
              </a:rPr>
              <a:t>Referral churn is 83%</a:t>
            </a:r>
          </a:p>
        </p:txBody>
      </p:sp>
      <p:sp>
        <p:nvSpPr>
          <p:cNvPr id="20" name="Recommendation 4"/>
          <p:cNvSpPr/>
          <p:nvPr/>
        </p:nvSpPr>
        <p:spPr>
          <a:xfrm>
            <a:off x="548640" y="38862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60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666666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3367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Basic-plan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8463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A/B test a content bundle or a cheap upgrade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623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4A6D"/>
                </a:solidFill>
                <a:latin typeface="Calibri"/>
              </a:rPr>
              <a:t>Basic churn is 60%</a:t>
            </a:r>
          </a:p>
        </p:txBody>
      </p:sp>
      <p:sp>
        <p:nvSpPr>
          <p:cNvPr id="25" name="Recommendation 5"/>
          <p:cNvSpPr/>
          <p:nvPr/>
        </p:nvSpPr>
        <p:spPr>
          <a:xfrm>
            <a:off x="4297679" y="38862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4160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666666"/>
                </a:solidFill>
                <a:latin typeface="Calibri"/>
              </a:rP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799" y="423367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Proactive outreach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8463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Call, email and SMS Medium/High-risk users, ordered by CLTV.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5623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4A6D"/>
                </a:solidFill>
                <a:latin typeface="Calibri"/>
              </a:rPr>
              <a:t>Rs 34.98 MRR at risk</a:t>
            </a:r>
          </a:p>
        </p:txBody>
      </p:sp>
      <p:sp>
        <p:nvSpPr>
          <p:cNvPr id="30" name="Recommendation 6"/>
          <p:cNvSpPr/>
          <p:nvPr/>
        </p:nvSpPr>
        <p:spPr>
          <a:xfrm>
            <a:off x="8046719" y="38862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60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666666"/>
                </a:solidFill>
                <a:latin typeface="Calibri"/>
              </a:rPr>
              <a:t>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23367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Root-cause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463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Investigate Karnataka and Sep-2024: price, outages, competitors.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623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4A6D"/>
                </a:solidFill>
                <a:latin typeface="Calibri"/>
              </a:rPr>
              <a:t>2 exits to competitors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2222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Customer Churn Analysis  ·  Gaurav Kalamkhede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88136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904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Small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92807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21 customers shows the method; confirm the rates on the full customer 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334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Predictive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358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Train my own churn model (logistic regression or XGBoost) instead of relying on the given churn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764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Live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788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Publish the KPIs in Power BI or Tableau, refreshed from the SQL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666666"/>
                </a:solidFill>
                <a:latin typeface="Calibri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194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Cohort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218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Retention curves by sign-up month and channel.</a:t>
            </a:r>
          </a:p>
        </p:txBody>
      </p:sp>
      <p:pic>
        <p:nvPicPr>
          <p:cNvPr id="17" name="Picture 16" descr="08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66765"/>
            <a:ext cx="4800600" cy="385598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222222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666666"/>
                </a:solidFill>
                <a:latin typeface="Calibri"/>
              </a:rPr>
              <a:t>Questions and feedback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alibri"/>
              </a:rPr>
              <a:t>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6301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notebooks/churn_analysis.ipynb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alibri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1330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src/churn_pipeline.py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alibri"/>
              </a:rP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63600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reports/Customer_Churn_Analysis_Report.pdf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alibri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1389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github.com/gauravkal006/Customer-Churn-Analysis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Calibri"/>
              </a:rPr>
              <a:t>Gaurav Kalamkhede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&amp; Customer Intelligence</dc:title>
  <dc:subject/>
  <dc:creator>Gaurav Kalamkhede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